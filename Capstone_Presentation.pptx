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8" r:id="rId5"/>
    <p:sldId id="260" r:id="rId6"/>
    <p:sldId id="261" r:id="rId7"/>
    <p:sldId id="263" r:id="rId8"/>
    <p:sldId id="266" r:id="rId9"/>
    <p:sldId id="267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mendeley.com/datasets/8gx2fvg2k6/5" TargetMode="External"/><Relationship Id="rId2" Type="http://schemas.openxmlformats.org/officeDocument/2006/relationships/hyperlink" Target="https://www.ascm.org/topics/supply-chain-analytic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bcsupplychain.com/abc-xyz-analysis/" TargetMode="External"/><Relationship Id="rId4" Type="http://schemas.openxmlformats.org/officeDocument/2006/relationships/hyperlink" Target="https://creativecommons.org/licenses/by-nc-nd/4.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3400">
                <a:solidFill>
                  <a:srgbClr val="0F2D50"/>
                </a:solidFill>
              </a:defRPr>
            </a:pPr>
            <a:r>
              <a:rPr lang="en-US" sz="4900" dirty="0"/>
              <a:t>Optimizing Inventory through ABC/XYZ Analysis and Demand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184" y="5645150"/>
            <a:ext cx="6193632" cy="1001456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</a:rPr>
              <a:t>Julian Sneve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</a:rPr>
              <a:t>Colorado State University Global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</a:rPr>
              <a:t>Dr. </a:t>
            </a:r>
            <a:r>
              <a:rPr lang="en-US" sz="1600" dirty="0" err="1">
                <a:solidFill>
                  <a:schemeClr val="tx1"/>
                </a:solidFill>
              </a:rPr>
              <a:t>Orenthio</a:t>
            </a:r>
            <a:r>
              <a:rPr lang="en-US" sz="1600" dirty="0">
                <a:solidFill>
                  <a:schemeClr val="tx1"/>
                </a:solidFill>
              </a:rPr>
              <a:t> Goodwin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1"/>
                </a:solidFill>
              </a:rPr>
              <a:t>November 2, 2025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610" y="991443"/>
            <a:ext cx="3332365" cy="1087819"/>
          </a:xfrm>
        </p:spPr>
        <p:txBody>
          <a:bodyPr anchor="b">
            <a:normAutofit/>
          </a:bodyPr>
          <a:lstStyle/>
          <a:p>
            <a:pPr>
              <a:defRPr sz="3200">
                <a:solidFill>
                  <a:srgbClr val="0F2D50"/>
                </a:solidFill>
              </a:defRPr>
            </a:pPr>
            <a:r>
              <a:rPr lang="en-US" sz="3000" dirty="0"/>
              <a:t>Background &amp; Objectives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77773" y="45651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610" y="2285541"/>
            <a:ext cx="32918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610" y="2510108"/>
            <a:ext cx="3575132" cy="3666855"/>
          </a:xfrm>
        </p:spPr>
        <p:txBody>
          <a:bodyPr>
            <a:no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800" dirty="0"/>
              <a:t>Modern supply chains face challenges balancing inventory levels and demand variability.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800" dirty="0"/>
              <a:t>Excess stock increases carrying costs, while shortages impact service levels.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800" dirty="0"/>
              <a:t>Objective: 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Analyze the benefits of integrating ABC/XYZ inventory classification with seasonality analysis to optimize inventory performance.</a:t>
            </a:r>
          </a:p>
        </p:txBody>
      </p:sp>
      <p:pic>
        <p:nvPicPr>
          <p:cNvPr id="5" name="Picture 4" descr="A poster of a supply chain management&#10;&#10;AI-generated content may be incorrect.">
            <a:extLst>
              <a:ext uri="{FF2B5EF4-FFF2-40B4-BE49-F238E27FC236}">
                <a16:creationId xmlns:a16="http://schemas.microsoft.com/office/drawing/2014/main" id="{B70DA184-16D5-1F75-914A-5A668888D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362" y="1210069"/>
            <a:ext cx="4830318" cy="43825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hopping cart with a pie chart and graphs&#10;&#10;AI-generated content may be incorrect.">
            <a:extLst>
              <a:ext uri="{FF2B5EF4-FFF2-40B4-BE49-F238E27FC236}">
                <a16:creationId xmlns:a16="http://schemas.microsoft.com/office/drawing/2014/main" id="{E5DD77C3-7352-73A8-6BA8-8285F3FB53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25" t="3977" r="35211" b="-1"/>
          <a:stretch>
            <a:fillRect/>
          </a:stretch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31745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19" y="1049987"/>
            <a:ext cx="3575925" cy="1236013"/>
          </a:xfrm>
        </p:spPr>
        <p:txBody>
          <a:bodyPr anchor="b">
            <a:normAutofit/>
          </a:bodyPr>
          <a:lstStyle/>
          <a:p>
            <a:pPr>
              <a:defRPr sz="3200">
                <a:solidFill>
                  <a:srgbClr val="0F2D50"/>
                </a:solidFill>
              </a:defRPr>
            </a:pPr>
            <a:r>
              <a:rPr lang="en-US" sz="3200" dirty="0"/>
              <a:t>Dataset Overview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87775" y="674370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183" y="2443480"/>
            <a:ext cx="2475738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351" y="2712573"/>
            <a:ext cx="2579180" cy="3207258"/>
          </a:xfrm>
        </p:spPr>
        <p:txBody>
          <a:bodyPr anchor="t">
            <a:normAutofit/>
          </a:bodyPr>
          <a:lstStyle/>
          <a:p>
            <a:endParaRPr lang="en-US" sz="150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800" dirty="0"/>
              <a:t>Source: </a:t>
            </a:r>
            <a:r>
              <a:rPr lang="en-US" sz="1800" dirty="0" err="1"/>
              <a:t>DataCo</a:t>
            </a:r>
            <a:r>
              <a:rPr lang="en-US" sz="1800" dirty="0"/>
              <a:t> Smart Supply Chain dataset 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US" sz="1800" dirty="0"/>
              <a:t>180,519 records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US" sz="1800" dirty="0"/>
              <a:t>36 variables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800" dirty="0"/>
              <a:t>Key variables: 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US" sz="1800" dirty="0" err="1"/>
              <a:t>product_id</a:t>
            </a:r>
            <a:endParaRPr lang="en-US" sz="1800" dirty="0"/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US" sz="1800" dirty="0"/>
              <a:t>quantity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US" sz="1800" dirty="0"/>
              <a:t>profit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A47EE0-211E-69E8-D3B1-6FDE985D4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5BFB5-C073-161F-5F84-E02890CDF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0F2D50"/>
                </a:solidFill>
              </a:defRPr>
            </a:pPr>
            <a:r>
              <a:rPr lang="en-US" sz="3500"/>
              <a:t>Research Questions and Hypotheses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58264-E5B2-E2C9-C15E-882B6A41D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2182761"/>
            <a:ext cx="7626096" cy="399420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Which products drive the most profit?</a:t>
            </a:r>
          </a:p>
          <a:p>
            <a:pPr marL="457200" lvl="1" indent="0">
              <a:lnSpc>
                <a:spcPct val="90000"/>
              </a:lnSpc>
              <a:buNone/>
              <a:defRPr sz="1800">
                <a:solidFill>
                  <a:srgbClr val="3C3C3C"/>
                </a:solidFill>
              </a:defRPr>
            </a:pPr>
            <a:r>
              <a:rPr lang="en-US" sz="1500" b="1" dirty="0"/>
              <a:t>H</a:t>
            </a:r>
            <a:r>
              <a:rPr lang="en-US" sz="1500" b="1" baseline="-25000" dirty="0"/>
              <a:t>0</a:t>
            </a:r>
            <a:r>
              <a:rPr lang="en-US" sz="1500" b="1" dirty="0"/>
              <a:t> : </a:t>
            </a:r>
            <a:r>
              <a:rPr lang="en-US" sz="1500" dirty="0"/>
              <a:t>There is no significant difference in average profit across products.</a:t>
            </a:r>
          </a:p>
          <a:p>
            <a:pPr marL="457200" lvl="1" indent="0">
              <a:lnSpc>
                <a:spcPct val="90000"/>
              </a:lnSpc>
              <a:buNone/>
              <a:defRPr sz="1800">
                <a:solidFill>
                  <a:srgbClr val="3C3C3C"/>
                </a:solidFill>
              </a:defRPr>
            </a:pPr>
            <a:r>
              <a:rPr lang="en-US" sz="1500" b="1" dirty="0"/>
              <a:t>H</a:t>
            </a:r>
            <a:r>
              <a:rPr lang="en-US" sz="1500" b="1" baseline="-25000" dirty="0"/>
              <a:t>1</a:t>
            </a:r>
            <a:r>
              <a:rPr lang="en-US" sz="1500" b="1" dirty="0"/>
              <a:t> : </a:t>
            </a:r>
            <a:r>
              <a:rPr lang="en-US" sz="1500" dirty="0"/>
              <a:t>There is a significant difference in average profit for at least one product.</a:t>
            </a:r>
          </a:p>
          <a:p>
            <a:pPr marL="457200" lvl="1" indent="0">
              <a:lnSpc>
                <a:spcPct val="90000"/>
              </a:lnSpc>
              <a:buNone/>
              <a:defRPr sz="1800">
                <a:solidFill>
                  <a:srgbClr val="3C3C3C"/>
                </a:solidFill>
              </a:defRPr>
            </a:pPr>
            <a:endParaRPr lang="en-US" sz="1500" dirty="0"/>
          </a:p>
          <a:p>
            <a:pPr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Which products have the most demand variability?</a:t>
            </a:r>
          </a:p>
          <a:p>
            <a:pPr marL="457200" lvl="1" indent="0">
              <a:lnSpc>
                <a:spcPct val="90000"/>
              </a:lnSpc>
              <a:buNone/>
              <a:defRPr sz="1800">
                <a:solidFill>
                  <a:srgbClr val="3C3C3C"/>
                </a:solidFill>
              </a:defRPr>
            </a:pPr>
            <a:r>
              <a:rPr lang="en-US" sz="1500" b="1" dirty="0"/>
              <a:t>H</a:t>
            </a:r>
            <a:r>
              <a:rPr lang="en-US" sz="1500" b="1" baseline="-25000" dirty="0"/>
              <a:t>0</a:t>
            </a:r>
            <a:r>
              <a:rPr lang="en-US" sz="1500" b="1" dirty="0"/>
              <a:t> : </a:t>
            </a:r>
            <a:r>
              <a:rPr lang="en-US" sz="1500" dirty="0"/>
              <a:t>There is no significant difference in demand variability across products.</a:t>
            </a:r>
          </a:p>
          <a:p>
            <a:pPr marL="457200" lvl="1" indent="0">
              <a:lnSpc>
                <a:spcPct val="90000"/>
              </a:lnSpc>
              <a:buNone/>
              <a:defRPr sz="1800">
                <a:solidFill>
                  <a:srgbClr val="3C3C3C"/>
                </a:solidFill>
              </a:defRPr>
            </a:pPr>
            <a:r>
              <a:rPr lang="en-US" sz="1500" b="1" dirty="0"/>
              <a:t>H</a:t>
            </a:r>
            <a:r>
              <a:rPr lang="en-US" sz="1500" b="1" baseline="-25000" dirty="0"/>
              <a:t>1</a:t>
            </a:r>
            <a:r>
              <a:rPr lang="en-US" sz="1500" dirty="0"/>
              <a:t> : There is a significant difference in demand variability for at least one product.</a:t>
            </a:r>
          </a:p>
          <a:p>
            <a:pPr marL="457200" lvl="1" indent="0">
              <a:lnSpc>
                <a:spcPct val="90000"/>
              </a:lnSpc>
              <a:buNone/>
              <a:defRPr sz="1800">
                <a:solidFill>
                  <a:srgbClr val="3C3C3C"/>
                </a:solidFill>
              </a:defRPr>
            </a:pPr>
            <a:endParaRPr lang="en-US" sz="1500" dirty="0"/>
          </a:p>
          <a:p>
            <a:pPr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Does seasonality affect the stability of product demand across XYZ categories?</a:t>
            </a:r>
          </a:p>
          <a:p>
            <a:pPr marL="457200" lvl="1" indent="0">
              <a:lnSpc>
                <a:spcPct val="90000"/>
              </a:lnSpc>
              <a:buNone/>
              <a:defRPr sz="1800">
                <a:solidFill>
                  <a:srgbClr val="3C3C3C"/>
                </a:solidFill>
              </a:defRPr>
            </a:pPr>
            <a:r>
              <a:rPr lang="en-US" sz="1500" b="1" dirty="0"/>
              <a:t>H</a:t>
            </a:r>
            <a:r>
              <a:rPr lang="en-US" sz="1500" b="1" baseline="-25000" dirty="0"/>
              <a:t>0</a:t>
            </a:r>
            <a:r>
              <a:rPr lang="en-US" sz="1500" b="1" dirty="0"/>
              <a:t> : </a:t>
            </a:r>
            <a:r>
              <a:rPr lang="en-US" sz="1500" dirty="0"/>
              <a:t>Seasonality has no significant effect on the variability of product demand across XYZ categories.</a:t>
            </a:r>
          </a:p>
          <a:p>
            <a:pPr marL="457200" lvl="1" indent="0">
              <a:lnSpc>
                <a:spcPct val="90000"/>
              </a:lnSpc>
              <a:buNone/>
              <a:defRPr sz="1800">
                <a:solidFill>
                  <a:srgbClr val="3C3C3C"/>
                </a:solidFill>
              </a:defRPr>
            </a:pPr>
            <a:r>
              <a:rPr lang="en-US" sz="1500" b="1" dirty="0"/>
              <a:t>H</a:t>
            </a:r>
            <a:r>
              <a:rPr lang="en-US" sz="1500" b="1" baseline="-25000" dirty="0"/>
              <a:t>1</a:t>
            </a:r>
            <a:r>
              <a:rPr lang="en-US" sz="1500" b="1" dirty="0"/>
              <a:t> : </a:t>
            </a:r>
            <a:r>
              <a:rPr lang="en-US" sz="1500" dirty="0"/>
              <a:t>Seasonality has a significant effect on the variability of product demand across XYZ categories.</a:t>
            </a:r>
          </a:p>
          <a:p>
            <a:pPr marL="457200" lvl="1" indent="0">
              <a:lnSpc>
                <a:spcPct val="90000"/>
              </a:lnSpc>
              <a:buNone/>
              <a:defRPr sz="1800">
                <a:solidFill>
                  <a:srgbClr val="3C3C3C"/>
                </a:solidFill>
              </a:defRPr>
            </a:pPr>
            <a:endParaRPr lang="en-US" sz="1500" dirty="0"/>
          </a:p>
          <a:p>
            <a:pPr lvl="1"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endParaRPr lang="en-US" sz="1500" dirty="0"/>
          </a:p>
          <a:p>
            <a:pPr lvl="1"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208408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610" y="991443"/>
            <a:ext cx="3332365" cy="1087819"/>
          </a:xfrm>
        </p:spPr>
        <p:txBody>
          <a:bodyPr anchor="b">
            <a:normAutofit/>
          </a:bodyPr>
          <a:lstStyle/>
          <a:p>
            <a:pPr>
              <a:defRPr sz="3200">
                <a:solidFill>
                  <a:srgbClr val="0F2D50"/>
                </a:solidFill>
              </a:defRPr>
            </a:pPr>
            <a:r>
              <a:rPr lang="en-US" sz="3000"/>
              <a:t>Methodology Overview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77773" y="45651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610" y="2285541"/>
            <a:ext cx="32918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610" y="2506271"/>
            <a:ext cx="3332365" cy="3670692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Tools: 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Microsoft Excel 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SAS Studio</a:t>
            </a:r>
          </a:p>
          <a:p>
            <a:pPr lvl="1">
              <a:defRPr sz="1800">
                <a:solidFill>
                  <a:srgbClr val="3C3C3C"/>
                </a:solidFill>
              </a:defRPr>
            </a:pPr>
            <a:endParaRPr lang="en-US" sz="160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ABC: ranked by cumulative profit (Pareto 80/20 principle).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sz="160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XYZ: based on coefficient of variation of demand (X = stable, Z = volatile).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sz="160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ABC/XYZ combination used to determine inventory </a:t>
            </a:r>
          </a:p>
        </p:txBody>
      </p:sp>
      <p:pic>
        <p:nvPicPr>
          <p:cNvPr id="5" name="Picture 4" descr="A diagram of a demand variable&#10;&#10;AI-generated content may be incorrect.">
            <a:extLst>
              <a:ext uri="{FF2B5EF4-FFF2-40B4-BE49-F238E27FC236}">
                <a16:creationId xmlns:a16="http://schemas.microsoft.com/office/drawing/2014/main" id="{F784FD9C-97A7-819F-07AB-34CBF0643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362" y="1547689"/>
            <a:ext cx="4830318" cy="37072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41754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34896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20" y="1161288"/>
            <a:ext cx="2578608" cy="1239012"/>
          </a:xfrm>
        </p:spPr>
        <p:txBody>
          <a:bodyPr anchor="ctr">
            <a:normAutofit/>
          </a:bodyPr>
          <a:lstStyle/>
          <a:p>
            <a:pPr>
              <a:defRPr sz="3200">
                <a:solidFill>
                  <a:srgbClr val="0F2D50"/>
                </a:solidFill>
              </a:defRPr>
            </a:pPr>
            <a:r>
              <a:rPr lang="en-US" sz="2400"/>
              <a:t>ABC/XYZ Analysis Results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919" y="2443480"/>
            <a:ext cx="25374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320" y="2718054"/>
            <a:ext cx="2579180" cy="3207258"/>
          </a:xfrm>
        </p:spPr>
        <p:txBody>
          <a:bodyPr anchor="t">
            <a:no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AX items represent ~15% of SKUs but generate ~70% of total revenue.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sz="160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BY and CZ items display higher demand uncertainty and lower profitability.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sz="160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Insights: segment-driven replenishment and prioritization strategies improve efficiency.</a:t>
            </a:r>
          </a:p>
        </p:txBody>
      </p:sp>
      <p:pic>
        <p:nvPicPr>
          <p:cNvPr id="5" name="Picture 4" descr="A table with numbers and percentages&#10;&#10;AI-generated content may be incorrect.">
            <a:extLst>
              <a:ext uri="{FF2B5EF4-FFF2-40B4-BE49-F238E27FC236}">
                <a16:creationId xmlns:a16="http://schemas.microsoft.com/office/drawing/2014/main" id="{1EF23F22-1A66-C1F2-09A1-6B589AB1C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23" y="1693741"/>
            <a:ext cx="4429706" cy="34705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15719BB-48A7-4AF4-BB91-DC82E0DF7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10973A55-5440-4A99-B526-B5812E462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A9682493-588A-4D52-98F6-FBBD80C07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4027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184" y="859536"/>
            <a:ext cx="3239926" cy="1170432"/>
          </a:xfrm>
        </p:spPr>
        <p:txBody>
          <a:bodyPr anchor="b">
            <a:normAutofit/>
          </a:bodyPr>
          <a:lstStyle/>
          <a:p>
            <a:pPr>
              <a:defRPr sz="3200">
                <a:solidFill>
                  <a:srgbClr val="0F2D50"/>
                </a:solidFill>
              </a:defRPr>
            </a:pPr>
            <a:r>
              <a:rPr lang="en-US" sz="3000" dirty="0"/>
              <a:t>X-Category Seasonality Results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EC5A7A-ADE4-48D9-B89C-2BA1C9110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18283" y="43196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119" y="2185062"/>
            <a:ext cx="37033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184" y="2358445"/>
            <a:ext cx="3239926" cy="3818518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Power BI dashboard integrates ABC/XYZ segmentation and forecast results.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sz="160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Interactive filters by segment, category, and time horizon.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sz="160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KPIs: Inventory Turnover, Forecast Accuracy, Service Level, Profitability.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sz="160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Enables proactive decision-making for supply chain managers.</a:t>
            </a:r>
          </a:p>
        </p:txBody>
      </p:sp>
      <p:pic>
        <p:nvPicPr>
          <p:cNvPr id="5" name="Picture 4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9EDA4B41-A587-2658-E978-1F064842D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440" y="674285"/>
            <a:ext cx="4742442" cy="3556832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35CAB4C-5042-D8ED-7D5F-94496734E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440" y="4788311"/>
            <a:ext cx="4732658" cy="12159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8A2D8D-BD3E-2F67-DCA2-36E9AE23B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4027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B324E4-720C-C773-4BA3-5B4D89A34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" y="859536"/>
            <a:ext cx="3289087" cy="1243584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0F2D50"/>
                </a:solidFill>
              </a:defRPr>
            </a:pPr>
            <a:r>
              <a:rPr lang="en-US" sz="3000" dirty="0"/>
              <a:t>Y-Category Seasonality Results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184" y="2185062"/>
            <a:ext cx="373761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61CC2-6B7B-9B86-9D83-594CAE7F3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184" y="2376733"/>
            <a:ext cx="3289087" cy="3800229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Power BI dashboard integrates ABC/XYZ segmentation and forecast results.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sz="160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Interactive filters by segment, category, and time horizon.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sz="160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KPIs: Inventory Turnover, Forecast Accuracy, Service Level, Profitability.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sz="160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Enables proactive decision-making for supply chain managers.</a:t>
            </a:r>
          </a:p>
        </p:txBody>
      </p:sp>
      <p:pic>
        <p:nvPicPr>
          <p:cNvPr id="6" name="Picture 5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2B4542FB-5D9C-23C5-61F5-9CB5B9F0B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794" y="517599"/>
            <a:ext cx="4748020" cy="3561016"/>
          </a:xfrm>
          <a:prstGeom prst="rect">
            <a:avLst/>
          </a:prstGeom>
        </p:spPr>
      </p:pic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11F4F3D-BE0E-C9FB-01BD-667DC3EC5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6794" y="4304682"/>
            <a:ext cx="4748021" cy="121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251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F720F-AA82-353F-CD25-A7798ECCC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15719BB-48A7-4AF4-BB91-DC82E0DF7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10973A55-5440-4A99-B526-B5812E462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A9682493-588A-4D52-98F6-FBBD80C07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4027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F4D3DD-3AA2-C44A-E364-E89F64E5D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" y="859536"/>
            <a:ext cx="3230093" cy="1170432"/>
          </a:xfrm>
        </p:spPr>
        <p:txBody>
          <a:bodyPr anchor="b">
            <a:normAutofit/>
          </a:bodyPr>
          <a:lstStyle/>
          <a:p>
            <a:pPr>
              <a:defRPr sz="3200">
                <a:solidFill>
                  <a:srgbClr val="0F2D50"/>
                </a:solidFill>
              </a:defRPr>
            </a:pPr>
            <a:r>
              <a:rPr lang="en-US" sz="3000" dirty="0"/>
              <a:t>Z-Category Seasonality Results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EC5A7A-ADE4-48D9-B89C-2BA1C9110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18283" y="43196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9119" y="2185062"/>
            <a:ext cx="37033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07181-07AE-FD9E-1F28-622210E8C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184" y="2358445"/>
            <a:ext cx="3230093" cy="3818518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Power BI dashboard integrates ABC/XYZ segmentation and forecast results.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sz="160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Interactive filters by segment, category, and time horizon.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sz="160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KPIs: Inventory Turnover, Forecast Accuracy, Service Level, Profitability.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US" sz="160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Enables proactive decision-making for supply chain managers.</a:t>
            </a:r>
          </a:p>
        </p:txBody>
      </p:sp>
      <p:pic>
        <p:nvPicPr>
          <p:cNvPr id="5" name="Picture 4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02742CBA-4FE8-8028-D5FA-25D95544D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439" y="517599"/>
            <a:ext cx="4742442" cy="3556831"/>
          </a:xfrm>
          <a:prstGeom prst="rect">
            <a:avLst/>
          </a:prstGeom>
        </p:spPr>
      </p:pic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592BCB6A-2C43-C1AA-A1BE-83445EFC9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439" y="4304372"/>
            <a:ext cx="4766949" cy="122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7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0F2D50"/>
                </a:solidFill>
              </a:defRPr>
            </a:pPr>
            <a:r>
              <a:rPr lang="en-US" sz="3500"/>
              <a:t>Conclusions &amp; Recommendations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276856"/>
            <a:ext cx="7626096" cy="390010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ABC/XYZ Classification is a Flexible Framework</a:t>
            </a:r>
          </a:p>
          <a:p>
            <a:pPr lvl="1"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r>
              <a:rPr lang="en-US" sz="1400" dirty="0"/>
              <a:t>Integrating ABC/XYZ classification with predictive analytics offers a useful and flexible framework for better inventory management.</a:t>
            </a:r>
          </a:p>
          <a:p>
            <a:pPr lvl="1"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endParaRPr lang="en-US" sz="1200" dirty="0"/>
          </a:p>
          <a:p>
            <a:pPr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"Super-Pareto" Profit Distribution</a:t>
            </a:r>
          </a:p>
          <a:p>
            <a:pPr lvl="1"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r>
              <a:rPr lang="en-US" sz="1400" dirty="0"/>
              <a:t>ABC analysis revealed a highly concentrated "super-Pareto" effect, where a few products drive the majority of revenue, emphasizing the strategic focus needed for these high-value items.</a:t>
            </a:r>
          </a:p>
          <a:p>
            <a:pPr lvl="1"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endParaRPr lang="en-US" sz="1200" dirty="0"/>
          </a:p>
          <a:p>
            <a:pPr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Seasonality is Not a Key Determinant</a:t>
            </a:r>
          </a:p>
          <a:p>
            <a:pPr lvl="1"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r>
              <a:rPr lang="en-US" sz="1400" dirty="0"/>
              <a:t>A seasonality assessment found that while some autocorrelation existed in X and Y products, it was not a statistically significant determinant of demand variability across the XYZ categories, particularly for high-volatility Z products.</a:t>
            </a:r>
          </a:p>
          <a:p>
            <a:pPr lvl="1"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endParaRPr lang="en-US" sz="1200" dirty="0"/>
          </a:p>
          <a:p>
            <a:pPr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Tailored Forecasting Approaches</a:t>
            </a:r>
          </a:p>
          <a:p>
            <a:pPr lvl="1"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r>
              <a:rPr lang="en-US" sz="1400" dirty="0"/>
              <a:t>Using time-series models (like ARIMA) for stable X and Y categories, while high-variability Z items require simpler, stochastic approaches with robust safety stock.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53397"/>
            <a:ext cx="7886700" cy="1273233"/>
          </a:xfrm>
        </p:spPr>
        <p:txBody>
          <a:bodyPr>
            <a:normAutofit/>
          </a:bodyPr>
          <a:lstStyle/>
          <a:p>
            <a:pPr>
              <a:defRPr sz="3200">
                <a:solidFill>
                  <a:srgbClr val="0F2D50"/>
                </a:solidFill>
              </a:defRPr>
            </a:pPr>
            <a:r>
              <a:rPr lang="en-US" sz="3500"/>
              <a:t>References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52998"/>
            <a:ext cx="7886700" cy="4257634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r>
              <a:rPr lang="en-US" sz="1600" dirty="0"/>
              <a:t>ASCM. (2023). Supply chain analytics. Association for Supply Chain Management. </a:t>
            </a:r>
            <a:r>
              <a:rPr lang="en-US" sz="1600" dirty="0">
                <a:hlinkClick r:id="rId2"/>
              </a:rPr>
              <a:t>https://www.ascm.org/topics/supply-chain-analytics/</a:t>
            </a:r>
            <a:endParaRPr lang="en-US" sz="1600" dirty="0"/>
          </a:p>
          <a:p>
            <a:pPr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endParaRPr lang="pt-BR" sz="1600" dirty="0"/>
          </a:p>
          <a:p>
            <a:pPr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r>
              <a:rPr lang="pt-BR" sz="1600" dirty="0"/>
              <a:t>Constante, F., Silva, F., &amp; Pereira, A. (2019). </a:t>
            </a:r>
            <a:r>
              <a:rPr lang="en-US" sz="1600" dirty="0" err="1"/>
              <a:t>DataCo</a:t>
            </a:r>
            <a:r>
              <a:rPr lang="en-US" sz="1600" dirty="0"/>
              <a:t> smart supply chain for big data analysis. </a:t>
            </a:r>
            <a:r>
              <a:rPr lang="en-US" sz="1600" i="1" dirty="0"/>
              <a:t>Mendeley Data</a:t>
            </a:r>
            <a:r>
              <a:rPr lang="en-US" sz="1600" dirty="0"/>
              <a:t>. </a:t>
            </a:r>
            <a:r>
              <a:rPr lang="en-US" sz="1600" u="sng" dirty="0">
                <a:hlinkClick r:id="rId3"/>
              </a:rPr>
              <a:t>https://data.mendeley.com/datasets/8gx2fvg2k6/5</a:t>
            </a:r>
            <a:endParaRPr lang="en-US" sz="1600" u="sng" dirty="0"/>
          </a:p>
          <a:p>
            <a:pPr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endParaRPr lang="en-US" sz="1600" u="sng" dirty="0"/>
          </a:p>
          <a:p>
            <a:pPr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r>
              <a:rPr lang="en-US" sz="1600" dirty="0" err="1"/>
              <a:t>Falatouri</a:t>
            </a:r>
            <a:r>
              <a:rPr lang="en-US" sz="1600" dirty="0"/>
              <a:t>, T., </a:t>
            </a:r>
            <a:r>
              <a:rPr lang="en-US" sz="1600" dirty="0" err="1"/>
              <a:t>Darbanian</a:t>
            </a:r>
            <a:r>
              <a:rPr lang="en-US" sz="1600" dirty="0"/>
              <a:t>, F., Brandtner, P., &amp; </a:t>
            </a:r>
            <a:r>
              <a:rPr lang="en-US" sz="1600" dirty="0" err="1"/>
              <a:t>Udokwu</a:t>
            </a:r>
            <a:r>
              <a:rPr lang="en-US" sz="1600" dirty="0"/>
              <a:t>, C. (2022). Predictive analytics for demand forecasting – a comparison of SARIMA and LSTM in retail SCM. </a:t>
            </a:r>
            <a:r>
              <a:rPr lang="pt-BR" sz="1600" i="1" dirty="0"/>
              <a:t>Procedia Computer Science, 200</a:t>
            </a:r>
            <a:r>
              <a:rPr lang="pt-BR" sz="1600" dirty="0"/>
              <a:t>(2022), 993-1003</a:t>
            </a:r>
            <a:r>
              <a:rPr lang="pt-BR" sz="1600" i="1" dirty="0"/>
              <a:t>. </a:t>
            </a:r>
            <a:r>
              <a:rPr lang="pt-BR" sz="1600" u="sng" dirty="0">
                <a:hlinkClick r:id="rId4"/>
              </a:rPr>
              <a:t>https://creativecommons.org/licenses/by-nc-nd/4.0</a:t>
            </a:r>
            <a:endParaRPr lang="pt-BR" sz="1600" u="sng" dirty="0"/>
          </a:p>
          <a:p>
            <a:pPr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endParaRPr lang="en-US" sz="1600" dirty="0"/>
          </a:p>
          <a:p>
            <a:pPr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r>
              <a:rPr lang="pt-BR" sz="1600" dirty="0"/>
              <a:t>Natsypayeva, E., Ivashina, M., Efremova, N., Chistyakova, S., &amp; Melnichenko, V. (2020). </a:t>
            </a:r>
            <a:r>
              <a:rPr lang="en-US" sz="1600" dirty="0"/>
              <a:t>Optimization of the assortment of retailers based on the use of ABC and XYZ analysis. </a:t>
            </a:r>
            <a:r>
              <a:rPr lang="en-US" sz="1600" i="1" dirty="0"/>
              <a:t>Quality – Access to Success</a:t>
            </a:r>
            <a:r>
              <a:rPr lang="en-US" sz="1600" dirty="0"/>
              <a:t> </a:t>
            </a:r>
            <a:r>
              <a:rPr lang="en-US" sz="1600" i="1" dirty="0"/>
              <a:t>21</a:t>
            </a:r>
            <a:r>
              <a:rPr lang="en-US" sz="1600" dirty="0"/>
              <a:t>(179), 157-160. </a:t>
            </a:r>
          </a:p>
          <a:p>
            <a:pPr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endParaRPr lang="en-US" sz="1600" dirty="0"/>
          </a:p>
          <a:p>
            <a:pPr>
              <a:lnSpc>
                <a:spcPct val="90000"/>
              </a:lnSpc>
              <a:defRPr sz="1800">
                <a:solidFill>
                  <a:srgbClr val="3C3C3C"/>
                </a:solidFill>
              </a:defRPr>
            </a:pPr>
            <a:r>
              <a:rPr lang="en-US" sz="1600" dirty="0" err="1"/>
              <a:t>Thieuleux</a:t>
            </a:r>
            <a:r>
              <a:rPr lang="en-US" sz="1600" dirty="0"/>
              <a:t>, E. (2025). ABC XYZ analysis in inventory management: a complete guide with Excel example. </a:t>
            </a:r>
            <a:r>
              <a:rPr lang="en-US" sz="1600" i="1" dirty="0" err="1"/>
              <a:t>AbcSupplyChain</a:t>
            </a:r>
            <a:r>
              <a:rPr lang="en-US" sz="1600" dirty="0"/>
              <a:t>. </a:t>
            </a:r>
            <a:r>
              <a:rPr lang="en-US" sz="1600" u="sng" dirty="0">
                <a:hlinkClick r:id="rId5"/>
              </a:rPr>
              <a:t>https://abcsupplychain.com/abc-xyz-analysis/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786</Words>
  <Application>Microsoft Office PowerPoint</Application>
  <PresentationFormat>On-screen Show (4:3)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Optimizing Inventory through ABC/XYZ Analysis and Demand Forecasting</vt:lpstr>
      <vt:lpstr>Background &amp; Objectives</vt:lpstr>
      <vt:lpstr>Dataset Overview</vt:lpstr>
      <vt:lpstr>Research Questions and Hypotheses</vt:lpstr>
      <vt:lpstr>Methodology Overview</vt:lpstr>
      <vt:lpstr>ABC/XYZ Analysis Results</vt:lpstr>
      <vt:lpstr>X-Category Seasonality Results</vt:lpstr>
      <vt:lpstr>Y-Category Seasonality Results</vt:lpstr>
      <vt:lpstr>Z-Category Seasonality Results</vt:lpstr>
      <vt:lpstr>Conclusions &amp; Recommendations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Julian Sneve</dc:creator>
  <cp:keywords/>
  <dc:description>generated using python-pptx</dc:description>
  <cp:lastModifiedBy>Julian Sneve</cp:lastModifiedBy>
  <cp:revision>6</cp:revision>
  <dcterms:created xsi:type="dcterms:W3CDTF">2013-01-27T09:14:16Z</dcterms:created>
  <dcterms:modified xsi:type="dcterms:W3CDTF">2025-11-01T23:51:58Z</dcterms:modified>
  <cp:category/>
</cp:coreProperties>
</file>